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60" r:id="rId5"/>
    <p:sldId id="279" r:id="rId6"/>
    <p:sldId id="281" r:id="rId7"/>
    <p:sldId id="283" r:id="rId8"/>
    <p:sldId id="285" r:id="rId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E156C2-5E7E-2593-B2DA-9C52ACC8E774}" v="1" dt="2025-05-19T15:56:30.9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squale legato" userId="S::pasquale.legato@servizimicrosoft.unical.it::8cddba08-aa55-4ebb-a73d-5841cd6c761e" providerId="AD" clId="Web-{0DE156C2-5E7E-2593-B2DA-9C52ACC8E774}"/>
    <pc:docChg chg="addSld">
      <pc:chgData name="pasquale legato" userId="S::pasquale.legato@servizimicrosoft.unical.it::8cddba08-aa55-4ebb-a73d-5841cd6c761e" providerId="AD" clId="Web-{0DE156C2-5E7E-2593-B2DA-9C52ACC8E774}" dt="2025-05-19T15:56:30.946" v="0"/>
      <pc:docMkLst>
        <pc:docMk/>
      </pc:docMkLst>
      <pc:sldChg chg="new">
        <pc:chgData name="pasquale legato" userId="S::pasquale.legato@servizimicrosoft.unical.it::8cddba08-aa55-4ebb-a73d-5841cd6c761e" providerId="AD" clId="Web-{0DE156C2-5E7E-2593-B2DA-9C52ACC8E774}" dt="2025-05-19T15:56:30.946" v="0"/>
        <pc:sldMkLst>
          <pc:docMk/>
          <pc:sldMk cId="954964560" sldId="2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C19D9B-E308-41B8-84AA-F57A10E71F44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3A9A63-E8A7-4E07-A9E3-36C7927BA9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5572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42D-EF2E-46BC-9C88-A391BEB0F152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7A02-3795-40CD-BC8D-A07AF94B93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794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42D-EF2E-46BC-9C88-A391BEB0F152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7A02-3795-40CD-BC8D-A07AF94B93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132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42D-EF2E-46BC-9C88-A391BEB0F152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7A02-3795-40CD-BC8D-A07AF94B93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775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42D-EF2E-46BC-9C88-A391BEB0F152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7A02-3795-40CD-BC8D-A07AF94B93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5639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42D-EF2E-46BC-9C88-A391BEB0F152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7A02-3795-40CD-BC8D-A07AF94B93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5381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42D-EF2E-46BC-9C88-A391BEB0F152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7A02-3795-40CD-BC8D-A07AF94B93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2079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42D-EF2E-46BC-9C88-A391BEB0F152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7A02-3795-40CD-BC8D-A07AF94B93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329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42D-EF2E-46BC-9C88-A391BEB0F152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7A02-3795-40CD-BC8D-A07AF94B93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4823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42D-EF2E-46BC-9C88-A391BEB0F152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7A02-3795-40CD-BC8D-A07AF94B93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7084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42D-EF2E-46BC-9C88-A391BEB0F152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7A02-3795-40CD-BC8D-A07AF94B93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27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42D-EF2E-46BC-9C88-A391BEB0F152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7A02-3795-40CD-BC8D-A07AF94B93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276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CC42D-EF2E-46BC-9C88-A391BEB0F152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77A02-3795-40CD-BC8D-A07AF94B93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44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11.wmf"/><Relationship Id="rId18" Type="http://schemas.openxmlformats.org/officeDocument/2006/relationships/oleObject" Target="../embeddings/oleObject10.bin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7.bin"/><Relationship Id="rId17" Type="http://schemas.openxmlformats.org/officeDocument/2006/relationships/image" Target="../media/image13.wmf"/><Relationship Id="rId2" Type="http://schemas.openxmlformats.org/officeDocument/2006/relationships/oleObject" Target="../embeddings/oleObject2.bin"/><Relationship Id="rId16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5" Type="http://schemas.openxmlformats.org/officeDocument/2006/relationships/image" Target="../media/image12.wmf"/><Relationship Id="rId10" Type="http://schemas.openxmlformats.org/officeDocument/2006/relationships/oleObject" Target="../embeddings/oleObject6.bin"/><Relationship Id="rId19" Type="http://schemas.openxmlformats.org/officeDocument/2006/relationships/image" Target="../media/image14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8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20.wmf"/><Relationship Id="rId18" Type="http://schemas.openxmlformats.org/officeDocument/2006/relationships/oleObject" Target="../embeddings/oleObject19.bin"/><Relationship Id="rId3" Type="http://schemas.openxmlformats.org/officeDocument/2006/relationships/image" Target="../media/image15.wmf"/><Relationship Id="rId21" Type="http://schemas.openxmlformats.org/officeDocument/2006/relationships/image" Target="../media/image24.wmf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22.wmf"/><Relationship Id="rId2" Type="http://schemas.openxmlformats.org/officeDocument/2006/relationships/oleObject" Target="../embeddings/oleObject11.bin"/><Relationship Id="rId16" Type="http://schemas.openxmlformats.org/officeDocument/2006/relationships/oleObject" Target="../embeddings/oleObject18.bin"/><Relationship Id="rId20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9.wmf"/><Relationship Id="rId5" Type="http://schemas.openxmlformats.org/officeDocument/2006/relationships/image" Target="../media/image16.wmf"/><Relationship Id="rId15" Type="http://schemas.openxmlformats.org/officeDocument/2006/relationships/image" Target="../media/image21.wmf"/><Relationship Id="rId23" Type="http://schemas.openxmlformats.org/officeDocument/2006/relationships/image" Target="../media/image25.wmf"/><Relationship Id="rId10" Type="http://schemas.openxmlformats.org/officeDocument/2006/relationships/oleObject" Target="../embeddings/oleObject15.bin"/><Relationship Id="rId19" Type="http://schemas.openxmlformats.org/officeDocument/2006/relationships/image" Target="../media/image23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17.bin"/><Relationship Id="rId22" Type="http://schemas.openxmlformats.org/officeDocument/2006/relationships/oleObject" Target="../embeddings/oleObject2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5FED689E-1144-354A-A85D-508E145A1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066" y="2581784"/>
            <a:ext cx="3836738" cy="2644852"/>
          </a:xfrm>
          <a:prstGeom prst="rect">
            <a:avLst/>
          </a:prstGeom>
        </p:spPr>
      </p:pic>
      <p:sp>
        <p:nvSpPr>
          <p:cNvPr id="4" name="Rettangolo 3"/>
          <p:cNvSpPr/>
          <p:nvPr/>
        </p:nvSpPr>
        <p:spPr>
          <a:xfrm>
            <a:off x="655673" y="2581784"/>
            <a:ext cx="64329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000">
                <a:ea typeface="Baskerville" panose="02020502070401020303" pitchFamily="18" charset="0"/>
              </a:rPr>
              <a:t>In un gioco dove il giocatore punta 1euro alla volta e si può solo vincere o perdere ad ogni passo (giocata</a:t>
            </a:r>
            <a:r>
              <a:rPr lang="it-IT" sz="2000">
                <a:solidFill>
                  <a:srgbClr val="FF0000"/>
                </a:solidFill>
                <a:ea typeface="Baskerville" panose="02020502070401020303" pitchFamily="18" charset="0"/>
              </a:rPr>
              <a:t>), il grafo ha un numero di stati fissati dal valore «b»</a:t>
            </a:r>
            <a:r>
              <a:rPr lang="it-IT" sz="2000">
                <a:ea typeface="Baskerville" panose="02020502070401020303" pitchFamily="18" charset="0"/>
              </a:rPr>
              <a:t>, per indicare il capitale del banco, mentre il capitale iniziale del giocatore è fissato al valore </a:t>
            </a:r>
            <a:r>
              <a:rPr lang="it-IT" sz="2000">
                <a:solidFill>
                  <a:srgbClr val="FF0000"/>
                </a:solidFill>
                <a:ea typeface="Baskerville" panose="02020502070401020303" pitchFamily="18" charset="0"/>
              </a:rPr>
              <a:t>«a»</a:t>
            </a:r>
            <a:r>
              <a:rPr lang="it-IT" sz="2000">
                <a:ea typeface="Baskerville" panose="02020502070401020303" pitchFamily="18" charset="0"/>
              </a:rPr>
              <a:t> (&lt;b). Durante il gioco, Il capitale </a:t>
            </a:r>
            <a:r>
              <a:rPr lang="it-IT" sz="2000">
                <a:solidFill>
                  <a:srgbClr val="FF0000"/>
                </a:solidFill>
                <a:ea typeface="Baskerville" panose="02020502070401020303" pitchFamily="18" charset="0"/>
              </a:rPr>
              <a:t>corrente</a:t>
            </a:r>
            <a:r>
              <a:rPr lang="it-IT" sz="2000">
                <a:ea typeface="Baskerville" panose="02020502070401020303" pitchFamily="18" charset="0"/>
              </a:rPr>
              <a:t> del giocatore è variabile tra «1» (stato 1) e «b-1» (stato b-1).</a:t>
            </a:r>
          </a:p>
        </p:txBody>
      </p:sp>
      <p:pic>
        <p:nvPicPr>
          <p:cNvPr id="6" name="Immagin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302" y="954860"/>
            <a:ext cx="8715122" cy="14646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sellaDiTesto 4"/>
          <p:cNvSpPr txBox="1"/>
          <p:nvPr/>
        </p:nvSpPr>
        <p:spPr>
          <a:xfrm>
            <a:off x="1796432" y="212870"/>
            <a:ext cx="8747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/>
              <a:t>Random </a:t>
            </a:r>
            <a:r>
              <a:rPr lang="it-IT" sz="2800" b="1" err="1"/>
              <a:t>walk</a:t>
            </a:r>
            <a:r>
              <a:rPr lang="it-IT" sz="2800" b="1"/>
              <a:t> o quasi: la fortuna o la rovina del giocatore</a:t>
            </a:r>
          </a:p>
        </p:txBody>
      </p:sp>
      <p:sp>
        <p:nvSpPr>
          <p:cNvPr id="8" name="Rettangolo 7"/>
          <p:cNvSpPr/>
          <p:nvPr/>
        </p:nvSpPr>
        <p:spPr>
          <a:xfrm>
            <a:off x="655673" y="4583265"/>
            <a:ext cx="643295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000">
                <a:ea typeface="Baskerville" panose="02020502070401020303" pitchFamily="18" charset="0"/>
              </a:rPr>
              <a:t>Un </a:t>
            </a:r>
            <a:r>
              <a:rPr lang="it-IT" sz="2000">
                <a:solidFill>
                  <a:srgbClr val="FF0000"/>
                </a:solidFill>
                <a:ea typeface="Baskerville" panose="02020502070401020303" pitchFamily="18" charset="0"/>
              </a:rPr>
              <a:t>gioco ideale </a:t>
            </a:r>
            <a:r>
              <a:rPr lang="it-IT" sz="2000">
                <a:ea typeface="Baskerville" panose="02020502070401020303" pitchFamily="18" charset="0"/>
              </a:rPr>
              <a:t>dovrebbe essere progettato in modo tale che risulti </a:t>
            </a:r>
            <a:r>
              <a:rPr lang="it-IT" sz="2000">
                <a:solidFill>
                  <a:srgbClr val="FF0000"/>
                </a:solidFill>
                <a:ea typeface="Baskerville" panose="02020502070401020303" pitchFamily="18" charset="0"/>
              </a:rPr>
              <a:t>p=q, (random </a:t>
            </a:r>
            <a:r>
              <a:rPr lang="it-IT" sz="2000" err="1">
                <a:solidFill>
                  <a:srgbClr val="FF0000"/>
                </a:solidFill>
                <a:ea typeface="Baskerville" panose="02020502070401020303" pitchFamily="18" charset="0"/>
              </a:rPr>
              <a:t>walk</a:t>
            </a:r>
            <a:r>
              <a:rPr lang="it-IT" sz="2000">
                <a:solidFill>
                  <a:srgbClr val="FF0000"/>
                </a:solidFill>
                <a:ea typeface="Baskerville" panose="02020502070401020303" pitchFamily="18" charset="0"/>
              </a:rPr>
              <a:t>)</a:t>
            </a:r>
            <a:r>
              <a:rPr lang="it-IT" sz="2000">
                <a:ea typeface="Baskerville" panose="02020502070401020303" pitchFamily="18" charset="0"/>
              </a:rPr>
              <a:t>; in realtà basta progettarlo con </a:t>
            </a:r>
            <a:r>
              <a:rPr lang="it-IT" sz="2000">
                <a:solidFill>
                  <a:srgbClr val="00B0F0"/>
                </a:solidFill>
                <a:ea typeface="Baskerville" panose="02020502070401020303" pitchFamily="18" charset="0"/>
              </a:rPr>
              <a:t>p lievemente inferiore a q </a:t>
            </a:r>
            <a:r>
              <a:rPr lang="it-IT" sz="2000">
                <a:ea typeface="Baskerville" panose="02020502070401020303" pitchFamily="18" charset="0"/>
              </a:rPr>
              <a:t>ed avere un capitale di banco notevolmente grande </a:t>
            </a:r>
            <a:r>
              <a:rPr lang="it-IT" sz="2000">
                <a:solidFill>
                  <a:srgbClr val="00B0F0"/>
                </a:solidFill>
                <a:ea typeface="Baskerville" panose="02020502070401020303" pitchFamily="18" charset="0"/>
              </a:rPr>
              <a:t>per garantire la rovina </a:t>
            </a:r>
            <a:r>
              <a:rPr lang="it-IT" sz="2000">
                <a:ea typeface="Baskerville" panose="02020502070401020303" pitchFamily="18" charset="0"/>
              </a:rPr>
              <a:t>di qualsivoglia giocatore (che parte da un </a:t>
            </a:r>
            <a:r>
              <a:rPr lang="it-IT" sz="2000">
                <a:solidFill>
                  <a:srgbClr val="00B0F0"/>
                </a:solidFill>
                <a:ea typeface="Baskerville" panose="02020502070401020303" pitchFamily="18" charset="0"/>
              </a:rPr>
              <a:t>capitale iniziale a&lt;&lt; b</a:t>
            </a:r>
            <a:r>
              <a:rPr lang="it-IT" sz="2000">
                <a:ea typeface="Baskerville" panose="02020502070401020303" pitchFamily="18" charset="0"/>
              </a:rPr>
              <a:t>).</a:t>
            </a:r>
          </a:p>
        </p:txBody>
      </p:sp>
      <p:sp>
        <p:nvSpPr>
          <p:cNvPr id="9" name="Rettangolo 8"/>
          <p:cNvSpPr/>
          <p:nvPr/>
        </p:nvSpPr>
        <p:spPr>
          <a:xfrm>
            <a:off x="7522059" y="5364625"/>
            <a:ext cx="396129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000">
                <a:ea typeface="Baskerville" panose="02020502070401020303" pitchFamily="18" charset="0"/>
              </a:rPr>
              <a:t>Gli stati numerati da «1» a «b-1» sono di transito, mentre «0» e «b» sono assorbenti e (diciamo pure) ricorrenti per via dell’</a:t>
            </a:r>
            <a:r>
              <a:rPr lang="it-IT" sz="2000" err="1">
                <a:ea typeface="Baskerville" panose="02020502070401020303" pitchFamily="18" charset="0"/>
              </a:rPr>
              <a:t>autoanello</a:t>
            </a:r>
            <a:r>
              <a:rPr lang="it-IT" sz="2000">
                <a:ea typeface="Baskerville" panose="020205020704010203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2806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183" y="870067"/>
            <a:ext cx="7703180" cy="1330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magine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456" y="2311753"/>
            <a:ext cx="4873889" cy="2752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magine 3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602" y="2265772"/>
            <a:ext cx="4625646" cy="279836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sellaDiTesto 4"/>
          <p:cNvSpPr txBox="1"/>
          <p:nvPr/>
        </p:nvSpPr>
        <p:spPr>
          <a:xfrm>
            <a:off x="695915" y="212870"/>
            <a:ext cx="10034124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it-IT" sz="2800" b="1"/>
              <a:t>Esempio a parte, con </a:t>
            </a:r>
            <a:r>
              <a:rPr lang="it-IT" sz="2800" b="1">
                <a:solidFill>
                  <a:srgbClr val="00B0F0"/>
                </a:solidFill>
              </a:rPr>
              <a:t>a=5</a:t>
            </a:r>
            <a:r>
              <a:rPr lang="it-IT" sz="2800" b="1"/>
              <a:t>, </a:t>
            </a:r>
            <a:r>
              <a:rPr lang="it-IT" sz="2800" b="1">
                <a:solidFill>
                  <a:srgbClr val="00B0F0"/>
                </a:solidFill>
              </a:rPr>
              <a:t>b=10</a:t>
            </a:r>
            <a:r>
              <a:rPr lang="it-IT" sz="2800" b="1"/>
              <a:t>, capitale corrente </a:t>
            </a:r>
            <a:r>
              <a:rPr lang="it-IT" sz="2800" b="1">
                <a:solidFill>
                  <a:srgbClr val="FF0000"/>
                </a:solidFill>
              </a:rPr>
              <a:t>n=2</a:t>
            </a:r>
            <a:r>
              <a:rPr lang="it-IT" sz="2800" b="1"/>
              <a:t> e </a:t>
            </a:r>
            <a:r>
              <a:rPr lang="it-IT" sz="2800" b="1">
                <a:solidFill>
                  <a:srgbClr val="00B0F0"/>
                </a:solidFill>
              </a:rPr>
              <a:t>p=0.45</a:t>
            </a:r>
            <a:r>
              <a:rPr lang="it-IT" sz="2800" b="1"/>
              <a:t> </a:t>
            </a:r>
          </a:p>
        </p:txBody>
      </p:sp>
      <p:sp>
        <p:nvSpPr>
          <p:cNvPr id="8" name="Rettangolo 7"/>
          <p:cNvSpPr/>
          <p:nvPr/>
        </p:nvSpPr>
        <p:spPr>
          <a:xfrm>
            <a:off x="6664752" y="5452096"/>
            <a:ext cx="39026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>
                <a:ea typeface="Baskerville" panose="02020502070401020303" pitchFamily="18" charset="0"/>
              </a:rPr>
              <a:t>Dalle diapositive della triennale: «a» è il capitale iniziale del giocatore, mentre «b» è il capitale del banco.</a:t>
            </a:r>
          </a:p>
        </p:txBody>
      </p:sp>
      <p:graphicFrame>
        <p:nvGraphicFramePr>
          <p:cNvPr id="10" name="Oggetto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5205931"/>
              </p:ext>
            </p:extLst>
          </p:nvPr>
        </p:nvGraphicFramePr>
        <p:xfrm>
          <a:off x="1881188" y="5427663"/>
          <a:ext cx="4086225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61960" imgH="482400" progId="Equation.DSMT4">
                  <p:embed/>
                </p:oleObj>
              </mc:Choice>
              <mc:Fallback>
                <p:oleObj name="Equation" r:id="rId5" imgW="2361960" imgH="48240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188" y="5427663"/>
                        <a:ext cx="4086225" cy="92868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0630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CAA80AF-3EA3-2E4D-AF4F-8D8C73CA1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10" name="Rettangolo 9"/>
          <p:cNvSpPr/>
          <p:nvPr/>
        </p:nvSpPr>
        <p:spPr>
          <a:xfrm>
            <a:off x="987425" y="208221"/>
            <a:ext cx="98559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400" b="1">
                <a:ea typeface="Baskerville" panose="02020502070401020303" pitchFamily="18" charset="0"/>
              </a:rPr>
              <a:t>Probabilità della fortuna e della rovina del giocatore con capitale iniziale «i» </a:t>
            </a:r>
          </a:p>
        </p:txBody>
      </p:sp>
      <p:graphicFrame>
        <p:nvGraphicFramePr>
          <p:cNvPr id="13" name="Oggetto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544258"/>
              </p:ext>
            </p:extLst>
          </p:nvPr>
        </p:nvGraphicFramePr>
        <p:xfrm>
          <a:off x="1042988" y="5459413"/>
          <a:ext cx="418623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55520" imgH="228600" progId="Equation.DSMT4">
                  <p:embed/>
                </p:oleObj>
              </mc:Choice>
              <mc:Fallback>
                <p:oleObj name="Equation" r:id="rId2" imgW="1955520" imgH="228600" progId="Equation.DSMT4">
                  <p:embed/>
                  <p:pic>
                    <p:nvPicPr>
                      <p:cNvPr id="13" name="Oggetto 1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42988" y="5459413"/>
                        <a:ext cx="4186237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ggetto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819316"/>
              </p:ext>
            </p:extLst>
          </p:nvPr>
        </p:nvGraphicFramePr>
        <p:xfrm>
          <a:off x="2020888" y="895350"/>
          <a:ext cx="78359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46160" imgH="241200" progId="Equation.DSMT4">
                  <p:embed/>
                </p:oleObj>
              </mc:Choice>
              <mc:Fallback>
                <p:oleObj name="Equation" r:id="rId4" imgW="3746160" imgH="241200" progId="Equation.DSMT4">
                  <p:embed/>
                  <p:pic>
                    <p:nvPicPr>
                      <p:cNvPr id="11" name="Oggetto 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20888" y="895350"/>
                        <a:ext cx="7835900" cy="504825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ggetto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0295219"/>
              </p:ext>
            </p:extLst>
          </p:nvPr>
        </p:nvGraphicFramePr>
        <p:xfrm>
          <a:off x="1028700" y="5994400"/>
          <a:ext cx="437515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44440" imgH="228600" progId="Equation.DSMT4">
                  <p:embed/>
                </p:oleObj>
              </mc:Choice>
              <mc:Fallback>
                <p:oleObj name="Equation" r:id="rId6" imgW="2044440" imgH="228600" progId="Equation.DSMT4">
                  <p:embed/>
                  <p:pic>
                    <p:nvPicPr>
                      <p:cNvPr id="18" name="Oggetto 1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28700" y="5994400"/>
                        <a:ext cx="4375150" cy="490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ggetto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012864"/>
              </p:ext>
            </p:extLst>
          </p:nvPr>
        </p:nvGraphicFramePr>
        <p:xfrm>
          <a:off x="5888038" y="5824538"/>
          <a:ext cx="512603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89040" imgH="419040" progId="Equation.DSMT4">
                  <p:embed/>
                </p:oleObj>
              </mc:Choice>
              <mc:Fallback>
                <p:oleObj name="Equation" r:id="rId8" imgW="2489040" imgH="419040" progId="Equation.DSMT4">
                  <p:embed/>
                  <p:pic>
                    <p:nvPicPr>
                      <p:cNvPr id="14" name="Oggetto 1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888038" y="5824538"/>
                        <a:ext cx="5126037" cy="8636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ggetto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3259997"/>
              </p:ext>
            </p:extLst>
          </p:nvPr>
        </p:nvGraphicFramePr>
        <p:xfrm>
          <a:off x="703263" y="1584325"/>
          <a:ext cx="8858250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394160" imgH="482400" progId="Equation.DSMT4">
                  <p:embed/>
                </p:oleObj>
              </mc:Choice>
              <mc:Fallback>
                <p:oleObj name="Equation" r:id="rId10" imgW="4394160" imgH="482400" progId="Equation.DSMT4">
                  <p:embed/>
                  <p:pic>
                    <p:nvPicPr>
                      <p:cNvPr id="16" name="Oggetto 1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03263" y="1584325"/>
                        <a:ext cx="8858250" cy="969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ggetto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393415"/>
              </p:ext>
            </p:extLst>
          </p:nvPr>
        </p:nvGraphicFramePr>
        <p:xfrm>
          <a:off x="935038" y="2622550"/>
          <a:ext cx="606742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009600" imgH="482400" progId="Equation.DSMT4">
                  <p:embed/>
                </p:oleObj>
              </mc:Choice>
              <mc:Fallback>
                <p:oleObj name="Equation" r:id="rId12" imgW="3009600" imgH="482400" progId="Equation.DSMT4">
                  <p:embed/>
                  <p:pic>
                    <p:nvPicPr>
                      <p:cNvPr id="19" name="Oggetto 1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35038" y="2622550"/>
                        <a:ext cx="6067425" cy="969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ggetto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24505"/>
              </p:ext>
            </p:extLst>
          </p:nvPr>
        </p:nvGraphicFramePr>
        <p:xfrm>
          <a:off x="942975" y="3673475"/>
          <a:ext cx="6272213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98520" imgH="457200" progId="Equation.DSMT4">
                  <p:embed/>
                </p:oleObj>
              </mc:Choice>
              <mc:Fallback>
                <p:oleObj name="Equation" r:id="rId14" imgW="3098520" imgH="457200" progId="Equation.DSMT4">
                  <p:embed/>
                  <p:pic>
                    <p:nvPicPr>
                      <p:cNvPr id="25" name="Oggetto 2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42975" y="3673475"/>
                        <a:ext cx="6272213" cy="920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ggetto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1152104"/>
              </p:ext>
            </p:extLst>
          </p:nvPr>
        </p:nvGraphicFramePr>
        <p:xfrm>
          <a:off x="2782888" y="4799013"/>
          <a:ext cx="489267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86000" imgH="228600" progId="Equation.DSMT4">
                  <p:embed/>
                </p:oleObj>
              </mc:Choice>
              <mc:Fallback>
                <p:oleObj name="Equation" r:id="rId16" imgW="2286000" imgH="228600" progId="Equation.DSMT4">
                  <p:embed/>
                  <p:pic>
                    <p:nvPicPr>
                      <p:cNvPr id="14" name="Oggetto 13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782888" y="4799013"/>
                        <a:ext cx="4892675" cy="490537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ggetto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5806743"/>
              </p:ext>
            </p:extLst>
          </p:nvPr>
        </p:nvGraphicFramePr>
        <p:xfrm>
          <a:off x="7973522" y="3437757"/>
          <a:ext cx="349567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26920" imgH="482400" progId="Equation.DSMT4">
                  <p:embed/>
                </p:oleObj>
              </mc:Choice>
              <mc:Fallback>
                <p:oleObj name="Equation" r:id="rId18" imgW="1726920" imgH="482400" progId="Equation.DSMT4">
                  <p:embed/>
                  <p:pic>
                    <p:nvPicPr>
                      <p:cNvPr id="26" name="Oggetto 25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973522" y="3437757"/>
                        <a:ext cx="3495675" cy="973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asellaDiTesto 3"/>
          <p:cNvSpPr txBox="1"/>
          <p:nvPr/>
        </p:nvSpPr>
        <p:spPr>
          <a:xfrm>
            <a:off x="7307114" y="2445763"/>
            <a:ext cx="2678460" cy="92333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it-IT"/>
              <a:t>Probabilità totale e </a:t>
            </a:r>
            <a:r>
              <a:rPr lang="it-IT" err="1"/>
              <a:t>markovianeità</a:t>
            </a:r>
            <a:r>
              <a:rPr lang="it-IT"/>
              <a:t> </a:t>
            </a:r>
          </a:p>
          <a:p>
            <a:r>
              <a:rPr lang="it-IT"/>
              <a:t>e collegamenti fra gli stati.</a:t>
            </a:r>
          </a:p>
        </p:txBody>
      </p:sp>
    </p:spTree>
    <p:extLst>
      <p:ext uri="{BB962C8B-B14F-4D97-AF65-F5344CB8AC3E}">
        <p14:creationId xmlns:p14="http://schemas.microsoft.com/office/powerpoint/2010/main" val="3181625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gget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495936"/>
              </p:ext>
            </p:extLst>
          </p:nvPr>
        </p:nvGraphicFramePr>
        <p:xfrm>
          <a:off x="5817357" y="398420"/>
          <a:ext cx="4094163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70000" imgH="419040" progId="Equation.DSMT4">
                  <p:embed/>
                </p:oleObj>
              </mc:Choice>
              <mc:Fallback>
                <p:oleObj name="Equation" r:id="rId2" imgW="2070000" imgH="419040" progId="Equation.DSMT4">
                  <p:embed/>
                  <p:pic>
                    <p:nvPicPr>
                      <p:cNvPr id="2" name="Oggetto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17357" y="398420"/>
                        <a:ext cx="4094163" cy="830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gget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546696"/>
              </p:ext>
            </p:extLst>
          </p:nvPr>
        </p:nvGraphicFramePr>
        <p:xfrm>
          <a:off x="5818818" y="1166739"/>
          <a:ext cx="4670425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560" imgH="507960" progId="Equation.DSMT4">
                  <p:embed/>
                </p:oleObj>
              </mc:Choice>
              <mc:Fallback>
                <p:oleObj name="Equation" r:id="rId4" imgW="2374560" imgH="507960" progId="Equation.DSMT4">
                  <p:embed/>
                  <p:pic>
                    <p:nvPicPr>
                      <p:cNvPr id="4" name="Oggetto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18818" y="1166739"/>
                        <a:ext cx="4670425" cy="998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gget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236338"/>
              </p:ext>
            </p:extLst>
          </p:nvPr>
        </p:nvGraphicFramePr>
        <p:xfrm>
          <a:off x="493458" y="2261309"/>
          <a:ext cx="541337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68400" imgH="583920" progId="Equation.DSMT4">
                  <p:embed/>
                </p:oleObj>
              </mc:Choice>
              <mc:Fallback>
                <p:oleObj name="Equation" r:id="rId6" imgW="2768400" imgH="583920" progId="Equation.DSMT4">
                  <p:embed/>
                  <p:pic>
                    <p:nvPicPr>
                      <p:cNvPr id="5" name="Oggetto 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3458" y="2261309"/>
                        <a:ext cx="5413375" cy="114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gget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145336"/>
              </p:ext>
            </p:extLst>
          </p:nvPr>
        </p:nvGraphicFramePr>
        <p:xfrm>
          <a:off x="6415679" y="2289590"/>
          <a:ext cx="5218112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31760" imgH="583920" progId="Equation.DSMT4">
                  <p:embed/>
                </p:oleObj>
              </mc:Choice>
              <mc:Fallback>
                <p:oleObj name="Equation" r:id="rId8" imgW="2831760" imgH="583920" progId="Equation.DSMT4">
                  <p:embed/>
                  <p:pic>
                    <p:nvPicPr>
                      <p:cNvPr id="6" name="Oggetto 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415679" y="2289590"/>
                        <a:ext cx="5218112" cy="1076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gget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0539951"/>
              </p:ext>
            </p:extLst>
          </p:nvPr>
        </p:nvGraphicFramePr>
        <p:xfrm>
          <a:off x="1315842" y="3528242"/>
          <a:ext cx="33655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28800" imgH="507960" progId="Equation.DSMT4">
                  <p:embed/>
                </p:oleObj>
              </mc:Choice>
              <mc:Fallback>
                <p:oleObj name="Equation" r:id="rId10" imgW="1828800" imgH="507960" progId="Equation.DSMT4">
                  <p:embed/>
                  <p:pic>
                    <p:nvPicPr>
                      <p:cNvPr id="7" name="Oggetto 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15842" y="3528242"/>
                        <a:ext cx="3365500" cy="935038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ggetto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178897"/>
              </p:ext>
            </p:extLst>
          </p:nvPr>
        </p:nvGraphicFramePr>
        <p:xfrm>
          <a:off x="1831975" y="1579563"/>
          <a:ext cx="35941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36480" imgH="164880" progId="Equation.DSMT4">
                  <p:embed/>
                </p:oleObj>
              </mc:Choice>
              <mc:Fallback>
                <p:oleObj name="Equation" r:id="rId12" imgW="1536480" imgH="164880" progId="Equation.DSMT4">
                  <p:embed/>
                  <p:pic>
                    <p:nvPicPr>
                      <p:cNvPr id="4" name="Oggetto 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31975" y="1579563"/>
                        <a:ext cx="3594100" cy="384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ggetto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0548117"/>
              </p:ext>
            </p:extLst>
          </p:nvPr>
        </p:nvGraphicFramePr>
        <p:xfrm>
          <a:off x="1646698" y="398420"/>
          <a:ext cx="355917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90640" imgH="419040" progId="Equation.DSMT4">
                  <p:embed/>
                </p:oleObj>
              </mc:Choice>
              <mc:Fallback>
                <p:oleObj name="Equation" r:id="rId14" imgW="1790640" imgH="419040" progId="Equation.DSMT4">
                  <p:embed/>
                  <p:pic>
                    <p:nvPicPr>
                      <p:cNvPr id="2" name="Oggetto 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46698" y="398420"/>
                        <a:ext cx="3559175" cy="835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ggetto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795123"/>
              </p:ext>
            </p:extLst>
          </p:nvPr>
        </p:nvGraphicFramePr>
        <p:xfrm>
          <a:off x="758825" y="4773613"/>
          <a:ext cx="4797425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03160" imgH="457200" progId="Equation.DSMT4">
                  <p:embed/>
                </p:oleObj>
              </mc:Choice>
              <mc:Fallback>
                <p:oleObj name="Equation" r:id="rId16" imgW="2603160" imgH="457200" progId="Equation.DSMT4">
                  <p:embed/>
                  <p:pic>
                    <p:nvPicPr>
                      <p:cNvPr id="9" name="Oggetto 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58825" y="4773613"/>
                        <a:ext cx="4797425" cy="841375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arentesi graffa aperta 1"/>
          <p:cNvSpPr/>
          <p:nvPr/>
        </p:nvSpPr>
        <p:spPr>
          <a:xfrm>
            <a:off x="1266372" y="542633"/>
            <a:ext cx="380326" cy="1555250"/>
          </a:xfrm>
          <a:prstGeom prst="lef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Freccia a destra 2"/>
          <p:cNvSpPr/>
          <p:nvPr/>
        </p:nvSpPr>
        <p:spPr>
          <a:xfrm>
            <a:off x="511817" y="1228683"/>
            <a:ext cx="574535" cy="20890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Freccia a destra 13"/>
          <p:cNvSpPr/>
          <p:nvPr/>
        </p:nvSpPr>
        <p:spPr>
          <a:xfrm>
            <a:off x="564315" y="3888839"/>
            <a:ext cx="574535" cy="20890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16" name="Oggetto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576433"/>
              </p:ext>
            </p:extLst>
          </p:nvPr>
        </p:nvGraphicFramePr>
        <p:xfrm>
          <a:off x="5694737" y="4760913"/>
          <a:ext cx="571023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098520" imgH="482400" progId="Equation.DSMT4">
                  <p:embed/>
                </p:oleObj>
              </mc:Choice>
              <mc:Fallback>
                <p:oleObj name="Equation" r:id="rId18" imgW="3098520" imgH="482400" progId="Equation.DSMT4">
                  <p:embed/>
                  <p:pic>
                    <p:nvPicPr>
                      <p:cNvPr id="13" name="Oggetto 12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694737" y="4760913"/>
                        <a:ext cx="5710238" cy="8890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ggetto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92866"/>
              </p:ext>
            </p:extLst>
          </p:nvPr>
        </p:nvGraphicFramePr>
        <p:xfrm>
          <a:off x="742950" y="5815013"/>
          <a:ext cx="6507163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530520" imgH="482400" progId="Equation.DSMT4">
                  <p:embed/>
                </p:oleObj>
              </mc:Choice>
              <mc:Fallback>
                <p:oleObj name="Equation" r:id="rId20" imgW="3530520" imgH="482400" progId="Equation.DSMT4">
                  <p:embed/>
                  <p:pic>
                    <p:nvPicPr>
                      <p:cNvPr id="16" name="Oggetto 15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42950" y="5815013"/>
                        <a:ext cx="6507163" cy="887412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ggetto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625224"/>
              </p:ext>
            </p:extLst>
          </p:nvPr>
        </p:nvGraphicFramePr>
        <p:xfrm>
          <a:off x="7876206" y="5881688"/>
          <a:ext cx="353536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917360" imgH="393480" progId="Equation.DSMT4">
                  <p:embed/>
                </p:oleObj>
              </mc:Choice>
              <mc:Fallback>
                <p:oleObj name="Equation" r:id="rId22" imgW="1917360" imgH="393480" progId="Equation.DSMT4">
                  <p:embed/>
                  <p:pic>
                    <p:nvPicPr>
                      <p:cNvPr id="13" name="Oggetto 12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876206" y="5881688"/>
                        <a:ext cx="3535362" cy="723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3081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94" y="1998880"/>
            <a:ext cx="11076495" cy="4910868"/>
          </a:xfrm>
          <a:prstGeom prst="rect">
            <a:avLst/>
          </a:prstGeom>
        </p:spPr>
      </p:pic>
      <p:graphicFrame>
        <p:nvGraphicFramePr>
          <p:cNvPr id="3" name="Ogget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1652426"/>
              </p:ext>
            </p:extLst>
          </p:nvPr>
        </p:nvGraphicFramePr>
        <p:xfrm>
          <a:off x="3396547" y="164456"/>
          <a:ext cx="3579812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42920" imgH="482400" progId="Equation.DSMT4">
                  <p:embed/>
                </p:oleObj>
              </mc:Choice>
              <mc:Fallback>
                <p:oleObj name="Equation" r:id="rId3" imgW="1942920" imgH="482400" progId="Equation.DSMT4">
                  <p:embed/>
                  <p:pic>
                    <p:nvPicPr>
                      <p:cNvPr id="19" name="Oggetto 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96547" y="164456"/>
                        <a:ext cx="3579812" cy="887413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gget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959199"/>
              </p:ext>
            </p:extLst>
          </p:nvPr>
        </p:nvGraphicFramePr>
        <p:xfrm>
          <a:off x="5265478" y="1254160"/>
          <a:ext cx="318293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26920" imgH="482400" progId="Equation.DSMT4">
                  <p:embed/>
                </p:oleObj>
              </mc:Choice>
              <mc:Fallback>
                <p:oleObj name="Equation" r:id="rId5" imgW="1726920" imgH="482400" progId="Equation.DSMT4">
                  <p:embed/>
                  <p:pic>
                    <p:nvPicPr>
                      <p:cNvPr id="5" name="Oggetto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65478" y="1254160"/>
                        <a:ext cx="3182937" cy="8890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gget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273689"/>
              </p:ext>
            </p:extLst>
          </p:nvPr>
        </p:nvGraphicFramePr>
        <p:xfrm>
          <a:off x="1025855" y="1254160"/>
          <a:ext cx="334803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15840" imgH="482400" progId="Equation.DSMT4">
                  <p:embed/>
                </p:oleObj>
              </mc:Choice>
              <mc:Fallback>
                <p:oleObj name="Equation" r:id="rId7" imgW="1815840" imgH="482400" progId="Equation.DSMT4">
                  <p:embed/>
                  <p:pic>
                    <p:nvPicPr>
                      <p:cNvPr id="6" name="Oggetto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25855" y="1254160"/>
                        <a:ext cx="3348037" cy="8890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ccia a destra 6"/>
          <p:cNvSpPr/>
          <p:nvPr/>
        </p:nvSpPr>
        <p:spPr>
          <a:xfrm>
            <a:off x="4534295" y="1575901"/>
            <a:ext cx="565925" cy="26232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74315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4653CDA1963346B6D381BBFE289EF8" ma:contentTypeVersion="14" ma:contentTypeDescription="Create a new document." ma:contentTypeScope="" ma:versionID="653f816834496c7252bc89c1ad5d5ad4">
  <xsd:schema xmlns:xsd="http://www.w3.org/2001/XMLSchema" xmlns:xs="http://www.w3.org/2001/XMLSchema" xmlns:p="http://schemas.microsoft.com/office/2006/metadata/properties" xmlns:ns2="855819a7-f396-4c53-87bb-9168c9c5dbd7" xmlns:ns3="0996a3d4-5c6f-4f20-9dc6-d0ca82d51e8d" targetNamespace="http://schemas.microsoft.com/office/2006/metadata/properties" ma:root="true" ma:fieldsID="bbc1f1569a2f6497be3b345abc6c1f5f" ns2:_="" ns3:_="">
    <xsd:import namespace="855819a7-f396-4c53-87bb-9168c9c5dbd7"/>
    <xsd:import namespace="0996a3d4-5c6f-4f20-9dc6-d0ca82d51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5819a7-f396-4c53-87bb-9168c9c5db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bb21486a-7a0a-4db4-9655-fe3ce8b761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96a3d4-5c6f-4f20-9dc6-d0ca82d51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f19d43c-abc4-448f-a39e-3a82d451dea3}" ma:internalName="TaxCatchAll" ma:showField="CatchAllData" ma:web="0996a3d4-5c6f-4f20-9dc6-d0ca82d51e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5819a7-f396-4c53-87bb-9168c9c5dbd7">
      <Terms xmlns="http://schemas.microsoft.com/office/infopath/2007/PartnerControls"/>
    </lcf76f155ced4ddcb4097134ff3c332f>
    <TaxCatchAll xmlns="0996a3d4-5c6f-4f20-9dc6-d0ca82d51e8d" xsi:nil="true"/>
  </documentManagement>
</p:properties>
</file>

<file path=customXml/itemProps1.xml><?xml version="1.0" encoding="utf-8"?>
<ds:datastoreItem xmlns:ds="http://schemas.openxmlformats.org/officeDocument/2006/customXml" ds:itemID="{2C466B81-CFAB-4AA4-B572-D7C68A894F0C}"/>
</file>

<file path=customXml/itemProps2.xml><?xml version="1.0" encoding="utf-8"?>
<ds:datastoreItem xmlns:ds="http://schemas.openxmlformats.org/officeDocument/2006/customXml" ds:itemID="{8871115A-8C45-4BB9-8F4B-F8ECA1A78E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AFE88D-2D40-4000-BD11-71D15C2812E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1" baseType="lpstr">
      <vt:lpstr>Arial</vt:lpstr>
      <vt:lpstr>Baskerville</vt:lpstr>
      <vt:lpstr>Calibri</vt:lpstr>
      <vt:lpstr>Calibri Light</vt:lpstr>
      <vt:lpstr>Tema di Office</vt:lpstr>
      <vt:lpstr>Equation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Pasquale Legato</dc:creator>
  <cp:lastModifiedBy>pasquale legato</cp:lastModifiedBy>
  <cp:revision>2</cp:revision>
  <dcterms:created xsi:type="dcterms:W3CDTF">2023-05-14T20:39:50Z</dcterms:created>
  <dcterms:modified xsi:type="dcterms:W3CDTF">2025-05-19T16:03:54Z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0x010100C04653CDA1963346B6D381BBFE289EF8</vt:lpwstr>
  </property>
</Properties>
</file>